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5" r:id="rId16"/>
    <p:sldId id="274" r:id="rId17"/>
    <p:sldId id="270" r:id="rId18"/>
    <p:sldId id="271" r:id="rId19"/>
    <p:sldId id="272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3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3888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C8572-9D58-60BF-3FD6-DB588B383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D7BFE0-E72C-EC31-D028-860CC36963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278F49-FEDA-138D-3E17-5A39D2C4BC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4F685C-1F82-700D-F7B4-CC4B88129C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7215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CDDE6-F202-1756-85AA-D8569EE85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8850B7-21D6-EA8B-953E-FEEA0BFB79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55BCD0-43ED-5EBD-1D2F-63B37723C7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40D53C-2EF6-FBAE-4BDF-7542371D0C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8305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 Sontheim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57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3A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H⊣N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675120" y="3383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HEILBRONN UNIVERSITY</a:t>
            </a:r>
            <a:endParaRPr lang="en-US" sz="600" dirty="0"/>
          </a:p>
          <a:p>
            <a:pPr marL="0" indent="0" algn="r">
              <a:buNone/>
            </a:pPr>
            <a:r>
              <a:rPr lang="en-US" sz="6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APPLIED SCIENCES</a:t>
            </a:r>
            <a:endParaRPr lang="en-US" sz="600" dirty="0"/>
          </a:p>
        </p:txBody>
      </p:sp>
      <p:sp>
        <p:nvSpPr>
          <p:cNvPr id="5" name="Shape 3"/>
          <p:cNvSpPr/>
          <p:nvPr/>
        </p:nvSpPr>
        <p:spPr>
          <a:xfrm>
            <a:off x="0" y="3017520"/>
            <a:ext cx="9144000" cy="2125980"/>
          </a:xfrm>
          <a:prstGeom prst="rect">
            <a:avLst/>
          </a:prstGeom>
          <a:solidFill>
            <a:srgbClr val="0D2860"/>
          </a:solidFill>
          <a:ln w="12700">
            <a:solidFill>
              <a:srgbClr val="0D28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017520"/>
            <a:ext cx="4572000" cy="2125980"/>
          </a:xfrm>
          <a:prstGeom prst="rect">
            <a:avLst/>
          </a:prstGeom>
          <a:solidFill>
            <a:srgbClr val="123070"/>
          </a:solidFill>
          <a:ln w="12700">
            <a:solidFill>
              <a:srgbClr val="1230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3127248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PROCESSING 2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20040" y="3703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Kniffel Vision AI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20040" y="406908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Dice Recognition with OpenCV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" y="446227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Zeliha Ilgın Güven  •  Sybren Veninga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 Sontheim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57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3A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H⊣N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675120" y="3383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HEILBRONN UNIVERSITY</a:t>
            </a:r>
            <a:endParaRPr lang="en-US" sz="600" dirty="0"/>
          </a:p>
          <a:p>
            <a:pPr marL="0" indent="0" algn="r">
              <a:buNone/>
            </a:pPr>
            <a:r>
              <a:rPr lang="en-US" sz="6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APPLIED SCIENCES</a:t>
            </a:r>
            <a:endParaRPr lang="en-US" sz="600" dirty="0"/>
          </a:p>
        </p:txBody>
      </p:sp>
      <p:sp>
        <p:nvSpPr>
          <p:cNvPr id="5" name="Shape 3"/>
          <p:cNvSpPr/>
          <p:nvPr/>
        </p:nvSpPr>
        <p:spPr>
          <a:xfrm>
            <a:off x="274320" y="502920"/>
            <a:ext cx="85953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" y="4681728"/>
            <a:ext cx="85953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72744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topic Image Processing 2  |  Zeliha Ilgın Güven &amp; Sybren Veninga  |  Summer Semester 26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321040" y="472744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2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57200" y="116128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What is Kniffel?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6002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Project Goal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03911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System Architecture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247802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CV Pipeline 1: Contours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291693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Pip Detection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35584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CV Pipeline 2: Watershed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79476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 Game State Machine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23367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 Scoring Engine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63440" y="116128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 User Interface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63440" y="160020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 Background Threading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63440" y="203911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 Key Technical Decisions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63440" y="247802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  Development Workflow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63440" y="291693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  Results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63440" y="335584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  Technologies Used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663440" y="379476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  Conclusion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 Sontheim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57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3A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H⊣N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675120" y="3383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HEILBRONN UNIVERSITY</a:t>
            </a:r>
            <a:endParaRPr lang="en-US" sz="600" dirty="0"/>
          </a:p>
          <a:p>
            <a:pPr marL="0" indent="0" algn="r">
              <a:buNone/>
            </a:pPr>
            <a:r>
              <a:rPr lang="en-US" sz="6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APPLIED SCIENCES</a:t>
            </a:r>
            <a:endParaRPr lang="en-US" sz="600" dirty="0"/>
          </a:p>
        </p:txBody>
      </p:sp>
      <p:sp>
        <p:nvSpPr>
          <p:cNvPr id="5" name="Shape 3"/>
          <p:cNvSpPr/>
          <p:nvPr/>
        </p:nvSpPr>
        <p:spPr>
          <a:xfrm>
            <a:off x="274320" y="502920"/>
            <a:ext cx="85953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KNIFFEL?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" y="4681728"/>
            <a:ext cx="85953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72744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topic Image Processing 2  |  Zeliha Ilgın Güven &amp; Sybren Veninga  |  Summer Semester 26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321040" y="472744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3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65760" y="1161288"/>
            <a:ext cx="49377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Dice game for 2–5 players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dice, up to 3 rolls per turn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 dice between rolls to chase categories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scoring categories per player — each used once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Categories: Ones–Sixes, Three/Four of a Kind, Full House, Small/Large Straight, Kniffel (all 5 equal), Chance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+35 bonus if upper section totals ≥ 63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total score wins after 13 rounds each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577840" y="1161288"/>
            <a:ext cx="3291840" cy="3108960"/>
          </a:xfrm>
          <a:prstGeom prst="rect">
            <a:avLst/>
          </a:prstGeom>
          <a:solidFill>
            <a:srgbClr val="E8EFF8"/>
          </a:solidFill>
          <a:ln w="19050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0" y="12527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known as…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0" y="154533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Yahtzee®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5760720" y="2121408"/>
            <a:ext cx="292608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2212848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project automates the tedious part: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counting pips and calculating scores.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0" y="3035808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7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a webcam at physical dice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7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instant digital scorecard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 Sontheim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57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3A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H⊣N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675120" y="3383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HEILBRONN UNIVERSITY</a:t>
            </a:r>
            <a:endParaRPr lang="en-US" sz="600" dirty="0"/>
          </a:p>
          <a:p>
            <a:pPr marL="0" indent="0" algn="r">
              <a:buNone/>
            </a:pPr>
            <a:r>
              <a:rPr lang="en-US" sz="6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APPLIED SCIENCES</a:t>
            </a:r>
            <a:endParaRPr lang="en-US" sz="600" dirty="0"/>
          </a:p>
        </p:txBody>
      </p:sp>
      <p:sp>
        <p:nvSpPr>
          <p:cNvPr id="5" name="Shape 3"/>
          <p:cNvSpPr/>
          <p:nvPr/>
        </p:nvSpPr>
        <p:spPr>
          <a:xfrm>
            <a:off x="274320" y="502920"/>
            <a:ext cx="85953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GOAL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" y="4681728"/>
            <a:ext cx="85953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72744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topic Image Processing 2  |  Zeliha Ilgın Güven &amp; Sybren Veninga  |  Summer Semester 26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321040" y="472744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4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74320" y="1161288"/>
            <a:ext cx="4023360" cy="2331720"/>
          </a:xfrm>
          <a:prstGeom prst="rect">
            <a:avLst/>
          </a:prstGeom>
          <a:solidFill>
            <a:srgbClr val="F5F7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25272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1618488"/>
            <a:ext cx="374904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Players manually count pips after every roll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mentally match 13 scoring categories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and error-prone under pressure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161288"/>
            <a:ext cx="4206240" cy="2331720"/>
          </a:xfrm>
          <a:prstGeom prst="rect">
            <a:avLst/>
          </a:prstGeom>
          <a:solidFill>
            <a:srgbClr val="F5F7FA"/>
          </a:solidFill>
          <a:ln w="19050">
            <a:solidFill>
              <a:srgbClr val="1A7A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25272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1618488"/>
            <a:ext cx="393192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a webcam at physical dice on the table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OpenCV detects each die value in real time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scorecard shows categories + points instantly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players — all math handled automatically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648456"/>
            <a:ext cx="8595360" cy="566928"/>
          </a:xfrm>
          <a:prstGeom prst="rect">
            <a:avLst/>
          </a:prstGeom>
          <a:solidFill>
            <a:srgbClr val="E8EFF8"/>
          </a:solidFill>
          <a:ln w="19050">
            <a:solidFill>
              <a:srgbClr val="1B3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39896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CONSTRAINT:  </a:t>
            </a: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classical computer vision — no machine learning, no pretrained models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 Sontheim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57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3A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H⊣N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675120" y="3383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HEILBRONN UNIVERSITY</a:t>
            </a:r>
            <a:endParaRPr lang="en-US" sz="600" dirty="0"/>
          </a:p>
          <a:p>
            <a:pPr marL="0" indent="0" algn="r">
              <a:buNone/>
            </a:pPr>
            <a:r>
              <a:rPr lang="en-US" sz="6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APPLIED SCIENCES</a:t>
            </a:r>
            <a:endParaRPr lang="en-US" sz="600" dirty="0"/>
          </a:p>
        </p:txBody>
      </p:sp>
      <p:sp>
        <p:nvSpPr>
          <p:cNvPr id="5" name="Shape 3"/>
          <p:cNvSpPr/>
          <p:nvPr/>
        </p:nvSpPr>
        <p:spPr>
          <a:xfrm>
            <a:off x="274320" y="502920"/>
            <a:ext cx="85953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" y="4681728"/>
            <a:ext cx="85953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72744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topic Image Processing 2  |  Zeliha Ilgın Güven &amp; Sybren Veninga  |  Summer Semester 26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321040" y="472744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5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286000" y="1161288"/>
            <a:ext cx="4572000" cy="530352"/>
          </a:xfrm>
          <a:prstGeom prst="rect">
            <a:avLst/>
          </a:prstGeom>
          <a:solidFill>
            <a:srgbClr val="0D2860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117957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WEBCAM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286000" y="143560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hardware input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0" y="170992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7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286000" y="1819656"/>
            <a:ext cx="4572000" cy="530352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0" y="18379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LAYER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286000" y="20939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camera.py  ·  Background Thread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0" y="236829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7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286000" y="2478024"/>
            <a:ext cx="4572000" cy="530352"/>
          </a:xfrm>
          <a:prstGeom prst="rect">
            <a:avLst/>
          </a:prstGeom>
          <a:solidFill>
            <a:srgbClr val="E8EFF8"/>
          </a:solidFill>
          <a:ln w="19050">
            <a:solidFill>
              <a:srgbClr val="1B3A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0" y="249631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LAYER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86000" y="275234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detector.py  ·  Contours + Watershed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0" y="302666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7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286000" y="3136392"/>
            <a:ext cx="4572000" cy="530352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0" y="31546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ENGINE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286000" y="341071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engine/  ·  Turn State Machine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14800" y="36850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7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286000" y="3794760"/>
            <a:ext cx="4572000" cy="530352"/>
          </a:xfrm>
          <a:prstGeom prst="rect">
            <a:avLst/>
          </a:prstGeom>
          <a:solidFill>
            <a:srgbClr val="E8EFF8"/>
          </a:solidFill>
          <a:ln w="19050">
            <a:solidFill>
              <a:srgbClr val="1B3A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0" y="38130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RENDERER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286000" y="406908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ui/renderer.py  ·  pygame 60 FPS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74320" y="449884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layer independently testable — CV, game engine, and UI have no circular dependencies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 Sontheim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57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3A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H⊣N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675120" y="3383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HEILBRONN UNIVERSITY</a:t>
            </a:r>
            <a:endParaRPr lang="en-US" sz="600" dirty="0"/>
          </a:p>
          <a:p>
            <a:pPr marL="0" indent="0" algn="r">
              <a:buNone/>
            </a:pPr>
            <a:r>
              <a:rPr lang="en-US" sz="6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APPLIED SCIENCES</a:t>
            </a:r>
            <a:endParaRPr lang="en-US" sz="600" dirty="0"/>
          </a:p>
        </p:txBody>
      </p:sp>
      <p:sp>
        <p:nvSpPr>
          <p:cNvPr id="5" name="Shape 3"/>
          <p:cNvSpPr/>
          <p:nvPr/>
        </p:nvSpPr>
        <p:spPr>
          <a:xfrm>
            <a:off x="274320" y="502920"/>
            <a:ext cx="85953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PIPELINE 1: CONTOURS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" y="4681728"/>
            <a:ext cx="85953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72744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topic Image Processing 2  |  Zeliha Ilgın Güven &amp; Sybren Veninga  |  Summer Semester 26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321040" y="472744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6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74320" y="116128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PIPELINE — OPTIMISED FOR DARK PIPS; MAY STRUGGLE UNDER STRONG SHADOWS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481328"/>
          <a:ext cx="5577840" cy="3044952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Convert to grayscale → Gaussian blur (7×7)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Adaptive threshold (Gaussian, inverted) → binary mask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Morphological close (5×5, 2×) → fills gaps inside dice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Find and fill external contours &gt; 200 px²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Estimate single-die area from median of square-ish blobs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Divide each blob area by median → number of dice in blob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Multiple dice merged? → K-means splits blob into die centers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Crop each die ROI → SimpleBlobDetector counts pips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6080760" y="1481328"/>
            <a:ext cx="2788920" cy="3063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72200" y="157276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172200" y="1938528"/>
            <a:ext cx="260604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72200" y="2029968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the median area instead of a fixed threshold makes the die-size estimate robust to stray noise contours.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172200" y="3081528"/>
            <a:ext cx="2606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K-means handles any touching geometry without needing to know the exact overlap shape.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 Sontheim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57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3A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H⊣N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675120" y="3383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HEILBRONN UNIVERSITY</a:t>
            </a:r>
            <a:endParaRPr lang="en-US" sz="600" dirty="0"/>
          </a:p>
          <a:p>
            <a:pPr marL="0" indent="0" algn="r">
              <a:buNone/>
            </a:pPr>
            <a:r>
              <a:rPr lang="en-US" sz="6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APPLIED SCIENCES</a:t>
            </a:r>
            <a:endParaRPr lang="en-US" sz="600" dirty="0"/>
          </a:p>
        </p:txBody>
      </p:sp>
      <p:sp>
        <p:nvSpPr>
          <p:cNvPr id="5" name="Shape 3"/>
          <p:cNvSpPr/>
          <p:nvPr/>
        </p:nvSpPr>
        <p:spPr>
          <a:xfrm>
            <a:off x="274320" y="502920"/>
            <a:ext cx="85953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 DETECTION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" y="4681728"/>
            <a:ext cx="85953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72744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topic Image Processing 2  |  Zeliha Ilgın Güven &amp; Sybren Veninga  |  Summer Semester 26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321040" y="472744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7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74320" y="116128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7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STEP — BOTH PIPELINES FEED DIE ROIs INTO THE SAME PIP-COUNTING STEP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1520" y="1508760"/>
            <a:ext cx="502920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545336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Crop die ROI from original BGR frame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60320" y="18928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7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2093976"/>
            <a:ext cx="502920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13055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Grayscale → Gaussian blur (5×5)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60320" y="24780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7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2679192"/>
            <a:ext cx="502920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1B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271576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threshold (Gaussian, 11×11 block, C=4)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60320" y="30632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7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1520" y="3264408"/>
            <a:ext cx="5029200" cy="1005840"/>
          </a:xfrm>
          <a:prstGeom prst="rect">
            <a:avLst/>
          </a:prstGeom>
          <a:solidFill>
            <a:srgbClr val="E8EFF8"/>
          </a:solidFill>
          <a:ln w="15240">
            <a:solidFill>
              <a:srgbClr val="1B3A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3300984"/>
            <a:ext cx="48463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cv2.SimpleBlobDetector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filterByArea = True   (30 – 50 000 px²)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filterByInertia = True   (ratio ≥ 0.60)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filterByCircularity = False ← disabled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filterByConvexity = False ← disabled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560320" y="42702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7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31520" y="4471416"/>
            <a:ext cx="502920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1B3A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50799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blob count = face value (1–6)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72200" y="1508760"/>
            <a:ext cx="2697480" cy="1828800"/>
          </a:xfrm>
          <a:prstGeom prst="rect">
            <a:avLst/>
          </a:prstGeom>
          <a:solidFill>
            <a:srgbClr val="FFFFFF"/>
          </a:solidFill>
          <a:ln w="15240">
            <a:solidFill>
              <a:srgbClr val="1B3A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1618488"/>
            <a:ext cx="2514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Disabling circularity and convexity filters avoids false rejections when pips are slightly non-circular due to print quality or viewing angle.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 Sontheim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57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3A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H⊣N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675120" y="3383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HEILBRONN UNIVERSITY</a:t>
            </a:r>
            <a:endParaRPr lang="en-US" sz="600" dirty="0"/>
          </a:p>
          <a:p>
            <a:pPr marL="0" indent="0" algn="r">
              <a:buNone/>
            </a:pPr>
            <a:r>
              <a:rPr lang="en-US" sz="6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APPLIED SCIENCES</a:t>
            </a:r>
            <a:endParaRPr lang="en-US" sz="600" dirty="0"/>
          </a:p>
        </p:txBody>
      </p:sp>
      <p:sp>
        <p:nvSpPr>
          <p:cNvPr id="5" name="Shape 3"/>
          <p:cNvSpPr/>
          <p:nvPr/>
        </p:nvSpPr>
        <p:spPr>
          <a:xfrm>
            <a:off x="274320" y="502920"/>
            <a:ext cx="85953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PIPELINE 2: WATERSHED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" y="4681728"/>
            <a:ext cx="85953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72744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topic Image Processing 2  |  Zeliha Ilgın Güven &amp; Sybren Veninga  |  Summer Semester 26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321040" y="472744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8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74320" y="116128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PIPELINE — REQUIRES HIGH CONTRAST BETWEEN DICE AND BACKGROUND</a:t>
            </a:r>
            <a:endParaRPr lang="en-US" sz="10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481328"/>
          <a:ext cx="5120640" cy="306324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Convert to HSV → threshold near-white pixels (S≤60, V≥150)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Morphological close to fill holes inside dice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Distance transform → threshold at 40% of max → sure foreground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Dilate mask → sure background → unknown = bg − fg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cv2.watershed with connected-component markers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Extract contours from watershed output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K-means split + SimpleBlobDetector pip count (same as Pipeline 1)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5669280" y="1481328"/>
            <a:ext cx="320040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60720" y="154533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760720" y="1847088"/>
            <a:ext cx="301752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Watershed treats each die center as a basin peak in the distance-transform landscape. Water rising from each peak stays within its basin, naturally separating touching objects — no explicit contour gap needed.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669280" y="3127248"/>
            <a:ext cx="3200400" cy="1417320"/>
          </a:xfrm>
          <a:prstGeom prst="rect">
            <a:avLst/>
          </a:prstGeom>
          <a:solidFill>
            <a:srgbClr val="F5F7FA"/>
          </a:solidFill>
          <a:ln w="19050">
            <a:solidFill>
              <a:srgbClr val="1B3A6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60720" y="319125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USE WHICH PIPELINE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760720" y="3502152"/>
            <a:ext cx="301752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Contours → colored dice, controlled contrast, any surface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Watershed → white/cream dice, multiple touching dice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at runtime with the D key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 Sontheim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57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3A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H⊣N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675120" y="3383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HEILBRONN UNIVERSITY</a:t>
            </a:r>
            <a:endParaRPr lang="en-US" sz="600" dirty="0"/>
          </a:p>
          <a:p>
            <a:pPr marL="0" indent="0" algn="r">
              <a:buNone/>
            </a:pPr>
            <a:r>
              <a:rPr lang="en-US" sz="6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APPLIED SCIENCES</a:t>
            </a:r>
            <a:endParaRPr lang="en-US" sz="600" dirty="0"/>
          </a:p>
        </p:txBody>
      </p:sp>
      <p:sp>
        <p:nvSpPr>
          <p:cNvPr id="5" name="Shape 3"/>
          <p:cNvSpPr/>
          <p:nvPr/>
        </p:nvSpPr>
        <p:spPr>
          <a:xfrm>
            <a:off x="274320" y="502920"/>
            <a:ext cx="85953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STATE MACHINE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" y="4681728"/>
            <a:ext cx="85953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72744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topic Image Processing 2  |  Zeliha Ilgın Güven &amp; Sybren Veninga  |  Summer Semester 26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321040" y="472744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9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560320" y="1207008"/>
            <a:ext cx="3200400" cy="658368"/>
          </a:xfrm>
          <a:prstGeom prst="rect">
            <a:avLst/>
          </a:prstGeom>
          <a:solidFill>
            <a:srgbClr val="FFFFFF"/>
          </a:solidFill>
          <a:ln w="254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12527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560320" y="15270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of each turn / no dice captured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560320" y="1911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A7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capture() / roll_random()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74720" y="207568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7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560320" y="2304288"/>
            <a:ext cx="3200400" cy="658368"/>
          </a:xfrm>
          <a:prstGeom prst="rect">
            <a:avLst/>
          </a:prstGeom>
          <a:solidFill>
            <a:srgbClr val="FFFFFF"/>
          </a:solidFill>
          <a:ln w="25400">
            <a:solidFill>
              <a:srgbClr val="1B3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0" y="23500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560320" y="26243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1st or 2nd roll done / can hold dice or score early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280160" y="287121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A7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3rd capture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645920" y="303580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7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806440" y="25511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7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score()  →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05840" y="3282696"/>
            <a:ext cx="2286000" cy="594360"/>
          </a:xfrm>
          <a:prstGeom prst="rect">
            <a:avLst/>
          </a:prstGeom>
          <a:solidFill>
            <a:srgbClr val="FFFFFF"/>
          </a:solidFill>
          <a:ln w="25400">
            <a:solidFill>
              <a:srgbClr val="1B3A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33284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05840" y="358444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pick a category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806440" y="3282696"/>
            <a:ext cx="2286000" cy="594360"/>
          </a:xfrm>
          <a:prstGeom prst="rect">
            <a:avLst/>
          </a:prstGeom>
          <a:solidFill>
            <a:srgbClr val="F5F7FA"/>
          </a:solidFill>
          <a:ln w="190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06440" y="331012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advance_turn /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player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37560" y="34472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F7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806440" y="1207008"/>
            <a:ext cx="3063240" cy="192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1B3A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271016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 logic in DiceSet.update_from_cv: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897880" y="1572768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user holds a die, its last bounding-box center is remembered. On the next capture, the detection closest to that center is claimed and excluded.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65760" y="3995928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can_capture() → True in ROLL and HOLD phases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can_score() → True in HOLD and SCORE phases (after ≥ 1 roll)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13 rounds × 2 players → Phase.GAME_OVER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 Sontheim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57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3A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H⊣N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675120" y="3383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HEILBRONN UNIVERSITY</a:t>
            </a:r>
            <a:endParaRPr lang="en-US" sz="600" dirty="0"/>
          </a:p>
          <a:p>
            <a:pPr marL="0" indent="0" algn="r">
              <a:buNone/>
            </a:pPr>
            <a:r>
              <a:rPr lang="en-US" sz="6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APPLIED SCIENCES</a:t>
            </a:r>
            <a:endParaRPr lang="en-US" sz="600" dirty="0"/>
          </a:p>
        </p:txBody>
      </p:sp>
      <p:sp>
        <p:nvSpPr>
          <p:cNvPr id="5" name="Shape 3"/>
          <p:cNvSpPr/>
          <p:nvPr/>
        </p:nvSpPr>
        <p:spPr>
          <a:xfrm>
            <a:off x="274320" y="502920"/>
            <a:ext cx="85953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ENGINE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" y="4681728"/>
            <a:ext cx="85953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72744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topic Image Processing 2  |  Zeliha Ilgın Güven &amp; Sybren Veninga  |  Summer Semester 26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321040" y="472744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10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74320" y="116128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13 categories are pure functions in engine/scoring.py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481328"/>
          <a:ext cx="8595360" cy="274320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Ones – Sixes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counts[n] × 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Three of a Kind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sum(dice) if any count ≥ 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Four of a Kind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sum(dice) if any count ≥ 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House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 if sorted counts == [2, 3]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Small Straight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if any 4-sequence is a subset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Large Straight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 if exact 5-sequence set matches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Kniffel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if any count == 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Chance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sum(dice) always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Upper Bonus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 if upper subtotal ≥ 63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274320" y="4270248"/>
            <a:ext cx="8595360" cy="411480"/>
          </a:xfrm>
          <a:prstGeom prst="rect">
            <a:avLst/>
          </a:prstGeom>
          <a:solidFill>
            <a:srgbClr val="E8EFF8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4334256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Scorecard.potential_scores(dice)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calculates what each unfilled category would score with the current dice — shown in grey on the scorecard after every roll.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 Sontheim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57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3A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H⊣N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675120" y="3383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HEILBRONN UNIVERSITY</a:t>
            </a:r>
            <a:endParaRPr lang="en-US" sz="600" dirty="0"/>
          </a:p>
          <a:p>
            <a:pPr marL="0" indent="0" algn="r">
              <a:buNone/>
            </a:pPr>
            <a:r>
              <a:rPr lang="en-US" sz="6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APPLIED SCIENCES</a:t>
            </a:r>
            <a:endParaRPr lang="en-US" sz="600" dirty="0"/>
          </a:p>
        </p:txBody>
      </p:sp>
      <p:sp>
        <p:nvSpPr>
          <p:cNvPr id="5" name="Shape 3"/>
          <p:cNvSpPr/>
          <p:nvPr/>
        </p:nvSpPr>
        <p:spPr>
          <a:xfrm>
            <a:off x="274320" y="502920"/>
            <a:ext cx="85953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INTERFACE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" y="4681728"/>
            <a:ext cx="85953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72744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topic Image Processing 2  |  Zeliha Ilgın Güven &amp; Sybren Veninga  |  Summer Semester 26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321040" y="472744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11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74320" y="1161288"/>
            <a:ext cx="5303520" cy="3337560"/>
          </a:xfrm>
          <a:prstGeom prst="rect">
            <a:avLst/>
          </a:prstGeom>
          <a:solidFill>
            <a:srgbClr val="F5F7FA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161288"/>
            <a:ext cx="5303520" cy="347472"/>
          </a:xfrm>
          <a:prstGeom prst="rect">
            <a:avLst/>
          </a:prstGeom>
          <a:solidFill>
            <a:srgbClr val="D0D8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216152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Header: 'Kniffel Vision AI'  |  Round / Roll chips  |  Players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" y="155448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801368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OpenCV Live Stream Panel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annotated camera feed —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Bounding boxes + labels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HUD badges: mode, count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108960" y="1554480"/>
            <a:ext cx="24231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54680" y="1664208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SCORECARD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Upper section (Ones–Sixes) —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 progress bar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Lower section (combinations) —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scores (grey)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totals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20040" y="3246120"/>
            <a:ext cx="5212080" cy="685800"/>
          </a:xfrm>
          <a:prstGeom prst="rect">
            <a:avLst/>
          </a:prstGeom>
          <a:solidFill>
            <a:srgbClr val="EDE0C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310128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DICE TRAY (wooden frame)  —  5 rendered dice, LOCK buttons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3977640"/>
            <a:ext cx="5212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04164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 DICE  |  NEW GAME  — Hint text —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06440" y="117957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Casino felt green left panel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06440" y="141732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immediate Yahtzee association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806440" y="172821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Warm cream paper right panel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806440" y="196596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analog scorecard feel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806440" y="227685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Gold action buttons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806440" y="251460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high contrast, draws attention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806440" y="282549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Green HUD overlays on camera feed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806440" y="306324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tech/AI aesthetic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806440" y="337413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Pulsing LIVE indicator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806440" y="361188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shows camera is active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806440" y="392277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Potential scores in grey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806440" y="416052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guide the player without dictating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 Sontheim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57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3A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H⊣N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675120" y="3383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HEILBRONN UNIVERSITY</a:t>
            </a:r>
            <a:endParaRPr lang="en-US" sz="600" dirty="0"/>
          </a:p>
          <a:p>
            <a:pPr marL="0" indent="0" algn="r">
              <a:buNone/>
            </a:pPr>
            <a:r>
              <a:rPr lang="en-US" sz="6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APPLIED SCIENCES</a:t>
            </a:r>
            <a:endParaRPr lang="en-US" sz="600" dirty="0"/>
          </a:p>
        </p:txBody>
      </p:sp>
      <p:sp>
        <p:nvSpPr>
          <p:cNvPr id="5" name="Shape 3"/>
          <p:cNvSpPr/>
          <p:nvPr/>
        </p:nvSpPr>
        <p:spPr>
          <a:xfrm>
            <a:off x="274320" y="502920"/>
            <a:ext cx="85953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THREADING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" y="4681728"/>
            <a:ext cx="85953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72744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topic Image Processing 2  |  Zeliha Ilgın Güven &amp; Sybren Veninga  |  Summer Semester 26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321040" y="472744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12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74320" y="1161288"/>
            <a:ext cx="5029200" cy="3337560"/>
          </a:xfrm>
          <a:prstGeom prst="rect">
            <a:avLst/>
          </a:prstGeom>
          <a:solidFill>
            <a:srgbClr val="1E2233"/>
          </a:solidFill>
          <a:ln w="12700">
            <a:solidFill>
              <a:srgbClr val="1E22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252728"/>
            <a:ext cx="4892040" cy="32004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CameraFeed: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start(self):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self._thread = threading.Thread(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target=self._loop, daemon=True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self._thread.start()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_loop(self):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self._running: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ret, frame = self._cap.read()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detections = detect_dice_from_frame(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frame, mode=self._mode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annotated = self._draw_overlay(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frame.copy(), detections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with self._lock: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self._annotated  = annotated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self._detections = detections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577840" y="12070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DESIGN POINTS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577840" y="1572768"/>
            <a:ext cx="3291840" cy="658368"/>
          </a:xfrm>
          <a:prstGeom prst="rect">
            <a:avLst/>
          </a:prstGeom>
          <a:solidFill>
            <a:srgbClr val="F5F7FA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50992" y="1618488"/>
            <a:ext cx="31455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runs as fast as the camera hardware allows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577840" y="2331720"/>
            <a:ext cx="3291840" cy="658368"/>
          </a:xfrm>
          <a:prstGeom prst="rect">
            <a:avLst/>
          </a:prstGeom>
          <a:solidFill>
            <a:srgbClr val="F5F7FA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50992" y="2377440"/>
            <a:ext cx="31455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UI reads only the latest annotated frame on each pygame tick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577840" y="3090672"/>
            <a:ext cx="3291840" cy="658368"/>
          </a:xfrm>
          <a:prstGeom prst="rect">
            <a:avLst/>
          </a:prstGeom>
          <a:solidFill>
            <a:srgbClr val="F5F7FA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50992" y="3136392"/>
            <a:ext cx="31455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threading.Lock prevents torn reads/writes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577840" y="3849624"/>
            <a:ext cx="3291840" cy="658368"/>
          </a:xfrm>
          <a:prstGeom prst="rect">
            <a:avLst/>
          </a:prstGeom>
          <a:solidFill>
            <a:srgbClr val="F5F7FA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3895344"/>
            <a:ext cx="31455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UI stays at a smooth 60 FPS even if detection is slower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 Sontheim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57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3A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H⊣N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675120" y="3383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HEILBRONN UNIVERSITY</a:t>
            </a:r>
            <a:endParaRPr lang="en-US" sz="600" dirty="0"/>
          </a:p>
          <a:p>
            <a:pPr marL="0" indent="0" algn="r">
              <a:buNone/>
            </a:pPr>
            <a:r>
              <a:rPr lang="en-US" sz="6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APPLIED SCIENCES</a:t>
            </a:r>
            <a:endParaRPr lang="en-US" sz="600" dirty="0"/>
          </a:p>
        </p:txBody>
      </p:sp>
      <p:sp>
        <p:nvSpPr>
          <p:cNvPr id="5" name="Shape 3"/>
          <p:cNvSpPr/>
          <p:nvPr/>
        </p:nvSpPr>
        <p:spPr>
          <a:xfrm>
            <a:off x="274320" y="502920"/>
            <a:ext cx="85953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TECHNICAL DECISIONS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" y="4681728"/>
            <a:ext cx="85953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72744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topic Image Processing 2  |  Zeliha Ilgın Güven &amp; Sybren Veninga  |  Summer Semester 26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321040" y="472744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13</a:t>
            </a:r>
            <a:endParaRPr lang="en-US" sz="7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61288"/>
          <a:ext cx="8595360" cy="361188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Background capture thread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Decouples CV processing speed from UI frame rate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Two swappable pipelines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single algorithm works optimally for all dice/lighting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K-means to split merged blobs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Works for any touching geometry — angle-independent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Median area for die sizing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large noise blob cannot skew the estimate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SimpleBlobDetector over Hough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Faster on small crops; tunable without complex cascades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filterByCircularity = False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Slightly non-circular pips (print, angle) are still valid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Left-to-right bbox ordering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Consistent positional identity for held-die tracking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CVAdapter singleton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Clean seam — different CV module pluggable without touching game code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Fallback random roll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Game remains playable during CV demo setup or camera failure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 Sontheim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57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3A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H⊣N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675120" y="3383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HEILBRONN UNIVERSITY</a:t>
            </a:r>
            <a:endParaRPr lang="en-US" sz="600" dirty="0"/>
          </a:p>
          <a:p>
            <a:pPr marL="0" indent="0" algn="r">
              <a:buNone/>
            </a:pPr>
            <a:r>
              <a:rPr lang="en-US" sz="6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APPLIED SCIENCES</a:t>
            </a:r>
            <a:endParaRPr lang="en-US" sz="600" dirty="0"/>
          </a:p>
        </p:txBody>
      </p:sp>
      <p:sp>
        <p:nvSpPr>
          <p:cNvPr id="5" name="Shape 3"/>
          <p:cNvSpPr/>
          <p:nvPr/>
        </p:nvSpPr>
        <p:spPr>
          <a:xfrm>
            <a:off x="274320" y="502920"/>
            <a:ext cx="85953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WORKFLOW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" y="4681728"/>
            <a:ext cx="85953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72744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topic Image Processing 2  |  Zeliha Ilgın Güven &amp; Sybren Veninga  |  Summer Semester 26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321040" y="472744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14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74320" y="1298448"/>
            <a:ext cx="2560320" cy="822960"/>
          </a:xfrm>
          <a:prstGeom prst="rect">
            <a:avLst/>
          </a:prstGeom>
          <a:solidFill>
            <a:srgbClr val="F5F7FA"/>
          </a:solidFill>
          <a:ln w="1524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3441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BinContours.py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160020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 research script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mode: camera / image / video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304288"/>
            <a:ext cx="2560320" cy="822960"/>
          </a:xfrm>
          <a:prstGeom prst="rect">
            <a:avLst/>
          </a:prstGeom>
          <a:solidFill>
            <a:srgbClr val="F5F7FA"/>
          </a:solidFill>
          <a:ln w="15240">
            <a:solidFill>
              <a:srgbClr val="1B3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3500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BinWatershed.py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60604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 research script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HSV + watershed approach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852928" y="1545336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F7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852928" y="2551176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F7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291840" y="1298448"/>
            <a:ext cx="283464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136245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cv_interface/detector.py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0" y="1655064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both pipelines, unified output format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tested independently via CLI: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cv_interface.detector image.jpg --debug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297680" y="3081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F7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3291840" y="3401568"/>
            <a:ext cx="283464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34472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engine/ (no camera dep)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83280" y="370332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 with mock.py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fake detections injected via cv_interface/mock.py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297680" y="4160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F7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3291840" y="4453128"/>
            <a:ext cx="2834640" cy="411480"/>
          </a:xfrm>
          <a:prstGeom prst="rect">
            <a:avLst/>
          </a:prstGeom>
          <a:solidFill>
            <a:srgbClr val="E8EFF8"/>
          </a:solidFill>
          <a:ln w="19050">
            <a:solidFill>
              <a:srgbClr val="1B3A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451713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ui/renderer.py — integrated in main.py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355080" y="1618488"/>
            <a:ext cx="2514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 scripts let CV work be tested and tuned independently of the game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cv_interface/mock.py injects fake detections so UI can be developed without a camera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layer tested in isolation before integration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5CAFD-5314-2AB9-13B1-B88AB4CCF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C1B1C68-C087-D7CD-689D-75690A6256C2}"/>
              </a:ext>
            </a:extLst>
          </p:cNvPr>
          <p:cNvSpPr/>
          <p:nvPr/>
        </p:nvSpPr>
        <p:spPr>
          <a:xfrm>
            <a:off x="274320" y="1097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 Sontheim</a:t>
            </a:r>
            <a:endParaRPr lang="en-US" sz="9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5E53B4F-6026-F399-D692-9B8244EA9D6D}"/>
              </a:ext>
            </a:extLst>
          </p:cNvPr>
          <p:cNvSpPr/>
          <p:nvPr/>
        </p:nvSpPr>
        <p:spPr>
          <a:xfrm>
            <a:off x="8046720" y="457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3A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H⊣N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2033BC9-14E4-C0A1-EE72-66D2ECC97138}"/>
              </a:ext>
            </a:extLst>
          </p:cNvPr>
          <p:cNvSpPr/>
          <p:nvPr/>
        </p:nvSpPr>
        <p:spPr>
          <a:xfrm>
            <a:off x="6675120" y="3383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HEILBRONN UNIVERSITY</a:t>
            </a:r>
            <a:endParaRPr lang="en-US" sz="600" dirty="0"/>
          </a:p>
          <a:p>
            <a:pPr marL="0" indent="0" algn="r">
              <a:buNone/>
            </a:pPr>
            <a:r>
              <a:rPr lang="en-US" sz="6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APPLIED SCIENCES</a:t>
            </a:r>
            <a:endParaRPr lang="en-US" sz="6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00E865F-E392-C51A-68A9-94BDF67BC040}"/>
              </a:ext>
            </a:extLst>
          </p:cNvPr>
          <p:cNvSpPr/>
          <p:nvPr/>
        </p:nvSpPr>
        <p:spPr>
          <a:xfrm>
            <a:off x="274320" y="502920"/>
            <a:ext cx="85953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3A2F884-B59A-0C6E-D058-8DE24A649400}"/>
              </a:ext>
            </a:extLst>
          </p:cNvPr>
          <p:cNvSpPr/>
          <p:nvPr/>
        </p:nvSpPr>
        <p:spPr>
          <a:xfrm>
            <a:off x="274320" y="53949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24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A7C9859-8DB9-519D-1981-5BD1450C5F64}"/>
              </a:ext>
            </a:extLst>
          </p:cNvPr>
          <p:cNvSpPr/>
          <p:nvPr/>
        </p:nvSpPr>
        <p:spPr>
          <a:xfrm>
            <a:off x="274320" y="4681728"/>
            <a:ext cx="85953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35DB39F-EC83-55B3-0A59-1946F0C3600E}"/>
              </a:ext>
            </a:extLst>
          </p:cNvPr>
          <p:cNvSpPr/>
          <p:nvPr/>
        </p:nvSpPr>
        <p:spPr>
          <a:xfrm>
            <a:off x="274320" y="472744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topic Image Processing 2  |  Zeliha Ilgın Güven &amp; Sybren Veninga  |  Summer Semester 26</a:t>
            </a:r>
            <a:endParaRPr lang="en-US" sz="7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61D1322-6DFD-C0F5-34ED-617BCDDDB4AC}"/>
              </a:ext>
            </a:extLst>
          </p:cNvPr>
          <p:cNvSpPr/>
          <p:nvPr/>
        </p:nvSpPr>
        <p:spPr>
          <a:xfrm>
            <a:off x="8321040" y="472744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15</a:t>
            </a:r>
            <a:endParaRPr lang="en-US" sz="75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DFA96BA7-8D09-D2C3-DE26-6038A4F98908}"/>
              </a:ext>
            </a:extLst>
          </p:cNvPr>
          <p:cNvSpPr/>
          <p:nvPr/>
        </p:nvSpPr>
        <p:spPr>
          <a:xfrm>
            <a:off x="274320" y="1161288"/>
            <a:ext cx="4160520" cy="338328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96C120D-46C3-2EB1-8EC9-446C9DA33F66}"/>
              </a:ext>
            </a:extLst>
          </p:cNvPr>
          <p:cNvSpPr/>
          <p:nvPr/>
        </p:nvSpPr>
        <p:spPr>
          <a:xfrm>
            <a:off x="411480" y="125272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WORKS WELL</a:t>
            </a:r>
            <a:endParaRPr lang="en-US" sz="13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F522114-1BE8-8A5A-D55B-50B329F17693}"/>
              </a:ext>
            </a:extLst>
          </p:cNvPr>
          <p:cNvSpPr/>
          <p:nvPr/>
        </p:nvSpPr>
        <p:spPr>
          <a:xfrm>
            <a:off x="411480" y="166420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detection of 5 separated dice under normal indoor lighting</a:t>
            </a:r>
            <a:endParaRPr lang="en-US" sz="115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3557D02-217B-4B58-5236-63793A0F75E9}"/>
              </a:ext>
            </a:extLst>
          </p:cNvPr>
          <p:cNvSpPr/>
          <p:nvPr/>
        </p:nvSpPr>
        <p:spPr>
          <a:xfrm>
            <a:off x="411480" y="221284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K-means reliably splits 2–3 touching dice</a:t>
            </a:r>
            <a:endParaRPr lang="en-US" sz="115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71B7323-83B7-9E9D-AEFB-E98C0444DA2C}"/>
              </a:ext>
            </a:extLst>
          </p:cNvPr>
          <p:cNvSpPr/>
          <p:nvPr/>
        </p:nvSpPr>
        <p:spPr>
          <a:xfrm>
            <a:off x="411480" y="276148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13 scoring categories implemented correctly with potential-score preview</a:t>
            </a:r>
            <a:endParaRPr lang="en-US" sz="115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A22BCA4-10F1-CE9F-D56A-76CB48528775}"/>
              </a:ext>
            </a:extLst>
          </p:cNvPr>
          <p:cNvSpPr/>
          <p:nvPr/>
        </p:nvSpPr>
        <p:spPr>
          <a:xfrm>
            <a:off x="411480" y="3393077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clearly communicates game phase and available actions at all times</a:t>
            </a:r>
            <a:endParaRPr lang="en-US" sz="115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BFEACE25-AB90-6055-2414-8D2E9AAF0DFA}"/>
              </a:ext>
            </a:extLst>
          </p:cNvPr>
          <p:cNvSpPr/>
          <p:nvPr/>
        </p:nvSpPr>
        <p:spPr>
          <a:xfrm>
            <a:off x="4709160" y="1161288"/>
            <a:ext cx="4160520" cy="3383280"/>
          </a:xfrm>
          <a:prstGeom prst="rect">
            <a:avLst/>
          </a:prstGeom>
          <a:solidFill>
            <a:srgbClr val="FFF3E0"/>
          </a:solidFill>
          <a:ln w="1905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E13713F0-9596-6B75-47D7-27B68CE43B4E}"/>
              </a:ext>
            </a:extLst>
          </p:cNvPr>
          <p:cNvSpPr/>
          <p:nvPr/>
        </p:nvSpPr>
        <p:spPr>
          <a:xfrm>
            <a:off x="4846320" y="125272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LIMITATIONS</a:t>
            </a:r>
            <a:endParaRPr lang="en-US" sz="13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9984D7F2-6071-8D0D-5CC8-D2A92ECD2E35}"/>
              </a:ext>
            </a:extLst>
          </p:cNvPr>
          <p:cNvSpPr/>
          <p:nvPr/>
        </p:nvSpPr>
        <p:spPr>
          <a:xfrm>
            <a:off x="4846320" y="1664208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</a:t>
            </a: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 accuracy drops under motion blur or very low contrast</a:t>
            </a:r>
            <a:endParaRPr lang="en-US" sz="115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E87E8ECE-C76E-AB71-88E1-EB8F29767900}"/>
              </a:ext>
            </a:extLst>
          </p:cNvPr>
          <p:cNvSpPr/>
          <p:nvPr/>
        </p:nvSpPr>
        <p:spPr>
          <a:xfrm>
            <a:off x="4846320" y="2350008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ACB443E4-32E8-F175-4225-9F41EBC70AC6}"/>
              </a:ext>
            </a:extLst>
          </p:cNvPr>
          <p:cNvSpPr/>
          <p:nvPr/>
        </p:nvSpPr>
        <p:spPr>
          <a:xfrm>
            <a:off x="4823460" y="2736669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</a:t>
            </a: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Watershed pipeline heavily dependent on background tuning → use Contours</a:t>
            </a:r>
            <a:endParaRPr lang="en-US" sz="115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500B1F54-16CC-1408-311B-21A71ACDE022}"/>
              </a:ext>
            </a:extLst>
          </p:cNvPr>
          <p:cNvSpPr/>
          <p:nvPr/>
        </p:nvSpPr>
        <p:spPr>
          <a:xfrm>
            <a:off x="4846320" y="3721608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759F8BF-D3C9-98EC-890D-621F6B501981}"/>
              </a:ext>
            </a:extLst>
          </p:cNvPr>
          <p:cNvSpPr/>
          <p:nvPr/>
        </p:nvSpPr>
        <p:spPr>
          <a:xfrm>
            <a:off x="4846320" y="376341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r>
              <a:rPr lang="en-US" sz="11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reliable held dice tracking across multiple rerolls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6930582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68501-8361-0958-20E9-941893D71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B262487-D858-B622-27C3-15C0B00E204A}"/>
              </a:ext>
            </a:extLst>
          </p:cNvPr>
          <p:cNvSpPr/>
          <p:nvPr/>
        </p:nvSpPr>
        <p:spPr>
          <a:xfrm>
            <a:off x="274320" y="1097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 Sontheim</a:t>
            </a:r>
            <a:endParaRPr lang="en-US" sz="9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BBE3CA1-B3A1-FBEE-C8CB-A0567C8678B2}"/>
              </a:ext>
            </a:extLst>
          </p:cNvPr>
          <p:cNvSpPr/>
          <p:nvPr/>
        </p:nvSpPr>
        <p:spPr>
          <a:xfrm>
            <a:off x="8046720" y="457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3A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H⊣N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829B60F-C42C-E896-F68E-DAC894A05A28}"/>
              </a:ext>
            </a:extLst>
          </p:cNvPr>
          <p:cNvSpPr/>
          <p:nvPr/>
        </p:nvSpPr>
        <p:spPr>
          <a:xfrm>
            <a:off x="6675120" y="3383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HEILBRONN UNIVERSITY</a:t>
            </a:r>
            <a:endParaRPr lang="en-US" sz="600" dirty="0"/>
          </a:p>
          <a:p>
            <a:pPr marL="0" indent="0" algn="r">
              <a:buNone/>
            </a:pPr>
            <a:r>
              <a:rPr lang="en-US" sz="6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APPLIED SCIENCES</a:t>
            </a:r>
            <a:endParaRPr lang="en-US" sz="6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39876F2-F7C3-8AB0-4625-9D54CF302B96}"/>
              </a:ext>
            </a:extLst>
          </p:cNvPr>
          <p:cNvSpPr/>
          <p:nvPr/>
        </p:nvSpPr>
        <p:spPr>
          <a:xfrm>
            <a:off x="274320" y="502920"/>
            <a:ext cx="85953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331E1E7-D340-9ECE-3FB5-0E2E66DEF18D}"/>
              </a:ext>
            </a:extLst>
          </p:cNvPr>
          <p:cNvSpPr/>
          <p:nvPr/>
        </p:nvSpPr>
        <p:spPr>
          <a:xfrm>
            <a:off x="2011682" y="319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24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69FCA7B-D978-2C3C-2BB5-ACCA25F57F8A}"/>
              </a:ext>
            </a:extLst>
          </p:cNvPr>
          <p:cNvSpPr/>
          <p:nvPr/>
        </p:nvSpPr>
        <p:spPr>
          <a:xfrm>
            <a:off x="274320" y="4681728"/>
            <a:ext cx="85953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0BAFA35-129C-851A-BE3D-936A2B496795}"/>
              </a:ext>
            </a:extLst>
          </p:cNvPr>
          <p:cNvSpPr/>
          <p:nvPr/>
        </p:nvSpPr>
        <p:spPr>
          <a:xfrm>
            <a:off x="274320" y="472744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topic Image Processing 2  |  Zeliha Ilgın Güven &amp; Sybren Veninga  |  Summer Semester 26</a:t>
            </a:r>
            <a:endParaRPr lang="en-US" sz="7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7D54D27-A097-C514-8D80-E3A029BEA251}"/>
              </a:ext>
            </a:extLst>
          </p:cNvPr>
          <p:cNvSpPr/>
          <p:nvPr/>
        </p:nvSpPr>
        <p:spPr>
          <a:xfrm>
            <a:off x="8321040" y="472744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15b</a:t>
            </a:r>
            <a:endParaRPr lang="en-US" sz="75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CBFD4F7-B9B8-6AFB-E65C-8B2186DA629D}"/>
              </a:ext>
            </a:extLst>
          </p:cNvPr>
          <p:cNvSpPr/>
          <p:nvPr/>
        </p:nvSpPr>
        <p:spPr>
          <a:xfrm>
            <a:off x="1056048" y="687000"/>
            <a:ext cx="4160520" cy="1600198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B43931C-66D9-4ECA-EDC3-86A436180BF8}"/>
              </a:ext>
            </a:extLst>
          </p:cNvPr>
          <p:cNvSpPr/>
          <p:nvPr/>
        </p:nvSpPr>
        <p:spPr>
          <a:xfrm>
            <a:off x="1272485" y="78638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WORKS WELL</a:t>
            </a:r>
            <a:endParaRPr lang="en-US" sz="13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8DD1952-F961-8BD4-0286-C0EFA0162A3B}"/>
              </a:ext>
            </a:extLst>
          </p:cNvPr>
          <p:cNvSpPr/>
          <p:nvPr/>
        </p:nvSpPr>
        <p:spPr>
          <a:xfrm>
            <a:off x="1145670" y="106273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detection of 5 separated dice under normal indoor lighting</a:t>
            </a:r>
            <a:endParaRPr lang="en-US" sz="115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A4C899E-6A97-25D5-D2AF-467FFB1EB9CD}"/>
              </a:ext>
            </a:extLst>
          </p:cNvPr>
          <p:cNvSpPr/>
          <p:nvPr/>
        </p:nvSpPr>
        <p:spPr>
          <a:xfrm>
            <a:off x="1097280" y="156565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K-means reliably splits 2–3 touching dice</a:t>
            </a:r>
            <a:endParaRPr lang="en-US" sz="115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71C8C171-D361-053D-CB6D-672FEECAC335}"/>
              </a:ext>
            </a:extLst>
          </p:cNvPr>
          <p:cNvSpPr/>
          <p:nvPr/>
        </p:nvSpPr>
        <p:spPr>
          <a:xfrm>
            <a:off x="4846320" y="2350008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D596EA19-D76F-B527-022D-3A92CB742DEF}"/>
              </a:ext>
            </a:extLst>
          </p:cNvPr>
          <p:cNvSpPr/>
          <p:nvPr/>
        </p:nvSpPr>
        <p:spPr>
          <a:xfrm>
            <a:off x="4846320" y="3721608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97CBF51-B5E1-1C4D-25F0-A233DE700B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6816" y="-88683"/>
            <a:ext cx="3593686" cy="138462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F1520D32-E98F-17A4-8B24-9BAF2470F2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78420" y="4060124"/>
            <a:ext cx="3520264" cy="146594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7A00FCC-720E-BE7D-6DAF-B39C5492BC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781335" y="2670048"/>
            <a:ext cx="3500319" cy="1450987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F44D0DFD-EF2C-7FFB-D331-075CC76DFE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78514" y="2670047"/>
            <a:ext cx="3565141" cy="145211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9EC096EB-85F9-3618-7706-5753F3AD37E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78514" y="4060124"/>
            <a:ext cx="3535222" cy="148589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FEA494D0-800B-D4F6-977D-A63E7854125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34319" y="3868538"/>
            <a:ext cx="3641544" cy="1470932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4B63C57A-3923-936E-EB50-BF9650B79E4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86816" y="2531165"/>
            <a:ext cx="3575873" cy="151530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8A5318E7-C50D-2FE7-9EE7-2884FE98591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86816" y="1042856"/>
            <a:ext cx="3589047" cy="1501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2028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 Sontheim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57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3A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H⊣N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675120" y="3383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HEILBRONN UNIVERSITY</a:t>
            </a:r>
            <a:endParaRPr lang="en-US" sz="600" dirty="0"/>
          </a:p>
          <a:p>
            <a:pPr marL="0" indent="0" algn="r">
              <a:buNone/>
            </a:pPr>
            <a:r>
              <a:rPr lang="en-US" sz="6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APPLIED SCIENCES</a:t>
            </a:r>
            <a:endParaRPr lang="en-US" sz="600" dirty="0"/>
          </a:p>
        </p:txBody>
      </p:sp>
      <p:sp>
        <p:nvSpPr>
          <p:cNvPr id="5" name="Shape 3"/>
          <p:cNvSpPr/>
          <p:nvPr/>
        </p:nvSpPr>
        <p:spPr>
          <a:xfrm>
            <a:off x="274320" y="502920"/>
            <a:ext cx="85953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274320" y="53949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" y="4681728"/>
            <a:ext cx="85953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/>
          <p:nvPr/>
        </p:nvSpPr>
        <p:spPr>
          <a:xfrm>
            <a:off x="274320" y="472744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topic Image Processing 2  |  Zeliha Ilgın Güven &amp; Sybren Veninga  |  Summer Semester 26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321040" y="472744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15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74320" y="1181537"/>
            <a:ext cx="2978331" cy="3017516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Text 9"/>
          <p:cNvSpPr/>
          <p:nvPr/>
        </p:nvSpPr>
        <p:spPr>
          <a:xfrm>
            <a:off x="411480" y="125272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WORKS WELL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" y="1799409"/>
            <a:ext cx="286076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13 scoring categories implemented correctly with potential-score preview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84117" y="2933919"/>
            <a:ext cx="272360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clearly communicates game phase and available actions at all times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46320" y="2350008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846320" y="3721608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01B10D9-EC45-D353-5142-E8DD95F714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8955" y="1185333"/>
            <a:ext cx="5420725" cy="30137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 Sontheim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57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3A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H⊣N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675120" y="3383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HEILBRONN UNIVERSITY</a:t>
            </a:r>
            <a:endParaRPr lang="en-US" sz="600" dirty="0"/>
          </a:p>
          <a:p>
            <a:pPr marL="0" indent="0" algn="r">
              <a:buNone/>
            </a:pPr>
            <a:r>
              <a:rPr lang="en-US" sz="6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APPLIED SCIENCES</a:t>
            </a:r>
            <a:endParaRPr lang="en-US" sz="600" dirty="0"/>
          </a:p>
        </p:txBody>
      </p:sp>
      <p:sp>
        <p:nvSpPr>
          <p:cNvPr id="5" name="Shape 3"/>
          <p:cNvSpPr/>
          <p:nvPr/>
        </p:nvSpPr>
        <p:spPr>
          <a:xfrm>
            <a:off x="274320" y="502920"/>
            <a:ext cx="85953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 USED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" y="4681728"/>
            <a:ext cx="85953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72744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topic Image Processing 2  |  Zeliha Ilgın Güven &amp; Sybren Veninga  |  Summer Semester 26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321040" y="472744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16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74320" y="116128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deep-learning frameworks used — all detection is classical CV.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481328"/>
          <a:ext cx="8595360" cy="2368296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 / LIBRARY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Python 3.13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Primary language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OpenCV 4.x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image processing (threshold, morphology, watershed, blob detection)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pygame 2.x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Game loop, event handling, 2D rendering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NumPy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Array operations, K-means input preparation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threading (stdlib)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Background camera capture thread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VS Code / Cursor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Development environment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274320" y="3995928"/>
            <a:ext cx="8595360" cy="566928"/>
          </a:xfrm>
          <a:prstGeom prst="rect">
            <a:avLst/>
          </a:prstGeom>
          <a:solidFill>
            <a:srgbClr val="E8EFF8"/>
          </a:solidFill>
          <a:ln w="19050">
            <a:solidFill>
              <a:srgbClr val="1B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4105656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classical computer vision:  adaptive thresholding  →  morphological operations  →  watershed  →  blob detection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 Sontheim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57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3A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H⊣N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675120" y="3383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HEILBRONN UNIVERSITY</a:t>
            </a:r>
            <a:endParaRPr lang="en-US" sz="600" dirty="0"/>
          </a:p>
          <a:p>
            <a:pPr marL="0" indent="0" algn="r">
              <a:buNone/>
            </a:pPr>
            <a:r>
              <a:rPr lang="en-US" sz="6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APPLIED SCIENCES</a:t>
            </a:r>
            <a:endParaRPr lang="en-US" sz="600" dirty="0"/>
          </a:p>
        </p:txBody>
      </p:sp>
      <p:sp>
        <p:nvSpPr>
          <p:cNvPr id="5" name="Shape 3"/>
          <p:cNvSpPr/>
          <p:nvPr/>
        </p:nvSpPr>
        <p:spPr>
          <a:xfrm>
            <a:off x="274320" y="502920"/>
            <a:ext cx="85953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" y="4681728"/>
            <a:ext cx="85953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72744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topic Image Processing 2  |  Zeliha Ilgın Güven &amp; Sybren Veninga  |  Summer Semester 26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321040" y="472744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17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20040" y="1161288"/>
            <a:ext cx="5029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 fully functional 2-player Kniffel game driven by real-time computer vision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20040" y="1682496"/>
            <a:ext cx="5029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CV pipelines cover different dice types and lighting conditions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20040" y="2203704"/>
            <a:ext cx="5029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Classical CV (thresholding + morphology + watershed + blob detection) proved sufficient under controlled conditions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20040" y="2724912"/>
            <a:ext cx="5029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architecture: CV, game engine, and UI layers are independent and independently testable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20040" y="3246120"/>
            <a:ext cx="5029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Demonstrates that image processing course techniques can be combined into a working interactive application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577840" y="1161288"/>
            <a:ext cx="3291840" cy="2514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6B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5669280" y="12527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FUTURE WORK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9280" y="161848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CNN / YOLO-based detection for higher robustness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69280" y="212140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Per-pip overlay drawn directly on the camera feed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0" y="262432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Network multiplayer support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0" y="312724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Score suggestion AI (highlight the optimal category)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" y="3904488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— Questions?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2416</Words>
  <Application>Microsoft Macintosh PowerPoint</Application>
  <PresentationFormat>On-screen Show (16:9)</PresentationFormat>
  <Paragraphs>439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Arial Black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Kniffel Vision AI — Image Processing 2</dc:title>
  <dc:subject>PptxGenJS Presentation</dc:subject>
  <dc:creator>PptxGenJS</dc:creator>
  <cp:lastModifiedBy>Ilgın Güven</cp:lastModifiedBy>
  <cp:revision>2</cp:revision>
  <dcterms:created xsi:type="dcterms:W3CDTF">2026-06-22T15:34:17Z</dcterms:created>
  <dcterms:modified xsi:type="dcterms:W3CDTF">2026-06-23T09:34:20Z</dcterms:modified>
</cp:coreProperties>
</file>